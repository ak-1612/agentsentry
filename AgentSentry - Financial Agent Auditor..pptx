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5715000"/>
            <a:ext cx="100393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2150864"/>
            <a:ext cx="76200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ENTERPRISE AI GOVERNANCE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2369939"/>
            <a:ext cx="8001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0" sz="4800" i="0" u="none">
                <a:solidFill>
                  <a:srgbClr val="FFFFFF"/>
                </a:solidFill>
                <a:latin typeface="Inter ExtraBold"/>
              </a:rPr>
              <a:t>AGENTSENTRY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3124200"/>
            <a:ext cx="76200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E600"/>
                </a:solidFill>
                <a:latin typeface="Inter"/>
              </a:rPr>
              <a:t>Enterprise Governance Sidecar Proxy &amp; Micro-Telemetry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3648075"/>
            <a:ext cx="7620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0B0"/>
                </a:solidFill>
                <a:latin typeface="Inter"/>
              </a:rPr>
              <a:t>Real-time interception, token micro-telemetry, and Minto Pyramid executive briefs for financial LLM agent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5876925"/>
            <a:ext cx="1514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412" y="5876925"/>
            <a:ext cx="324326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CONFIDENTIAL // FINANCIAL SERVICES LLM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2293739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478535"/>
            <a:ext cx="2433637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862" y="4478535"/>
            <a:ext cx="19335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737" y="4478535"/>
            <a:ext cx="23907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4545210"/>
            <a:ext cx="109537" cy="1047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6587" y="4545210"/>
            <a:ext cx="100012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4462" y="4545210"/>
            <a:ext cx="138112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3575000" cy="1419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425" y="1280070"/>
            <a:ext cx="3575000" cy="1419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1280070"/>
            <a:ext cx="3575149" cy="1419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927895"/>
            <a:ext cx="5438775" cy="1371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927895"/>
            <a:ext cx="5438775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01 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Strategic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0" y="6296025"/>
            <a:ext cx="1838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EXECUTIVE BRIEFING // SLIDE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518195"/>
            <a:ext cx="3079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FFE600"/>
                </a:solidFill>
                <a:latin typeface="Inter ExtraBol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975395"/>
            <a:ext cx="3079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Inter SemiBold"/>
              </a:rPr>
              <a:t>Deterministic Interception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175420"/>
            <a:ext cx="3079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B0B0B0"/>
                </a:solidFill>
                <a:latin typeface="Inter"/>
              </a:rPr>
              <a:t>Captures plurals &amp; syntax shifts with root-stem matching.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5600" y="1518195"/>
            <a:ext cx="3079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FFE600"/>
                </a:solidFill>
                <a:latin typeface="Inter ExtraBold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5600" y="1975395"/>
            <a:ext cx="3079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Inter SemiBold"/>
              </a:rPr>
              <a:t>Token Cost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600" y="2175420"/>
            <a:ext cx="3079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B0B0B0"/>
                </a:solidFill>
                <a:latin typeface="Inter"/>
              </a:rPr>
              <a:t>Achieved via prefix caching &amp; micro-telemetry 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1100" y="1518195"/>
            <a:ext cx="30798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FFE600"/>
                </a:solidFill>
                <a:latin typeface="Inter ExtraBold"/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1100" y="1975395"/>
            <a:ext cx="30798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Inter SemiBold"/>
              </a:rPr>
              <a:t>Policy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1100" y="2175420"/>
            <a:ext cx="30798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B0B0B0"/>
                </a:solidFill>
                <a:latin typeface="Inter"/>
              </a:rPr>
              <a:t>Structured Minto briefs &amp; real-time partner queues.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3166020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Strategic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" y="3461295"/>
            <a:ext cx="4962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Autonomous AI agents reduce financial review latency by 80%, but unmonitored LLMs introduce hallucination risks, off-balance sheet overrides, and unconstrained API token spend across client engagements.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75" y="3166020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Solution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3461295"/>
            <a:ext cx="4962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AgentSentry acts as an inline sidecar proxy intercepting input scope directives and agent outputs, logging token usage to an immutable SQLite ledger, and escalating high-risk traces to partner queues.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189833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18983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3575000" cy="48540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425" y="1280070"/>
            <a:ext cx="3575000" cy="485402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925" y="1280070"/>
            <a:ext cx="3575149" cy="48540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02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Compliance Vulnerabilities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4037" y="6296025"/>
            <a:ext cx="2205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GOVERNANCE CHALLENGES // SLIDE 03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518195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050" y="2051595"/>
            <a:ext cx="3098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Syntax Evasion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346870"/>
            <a:ext cx="3098750" cy="354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Keyword matching fails when high-risk terms shift tense or pluralize (e.g., </a:t>
            </a:r>
            <a:r>
              <a:rPr b="0" sz="1050" i="0" u="none">
                <a:solidFill>
                  <a:srgbClr val="FFE600"/>
                </a:solidFill>
                <a:latin typeface="Inter"/>
              </a:rPr>
              <a:t>'liability'</a:t>
            </a:r>
            <a:r>
              <a:rPr b="0" sz="1050" i="0" u="none">
                <a:solidFill>
                  <a:srgbClr val="B0B0B0"/>
                </a:solidFill>
                <a:latin typeface="Inter"/>
              </a:rPr>
              <a:t> vs </a:t>
            </a:r>
            <a:r>
              <a:rPr b="0" sz="1050" i="0" u="none">
                <a:solidFill>
                  <a:srgbClr val="FFE600"/>
                </a:solidFill>
                <a:latin typeface="Inter"/>
              </a:rPr>
              <a:t>'liabilities'</a:t>
            </a:r>
            <a:r>
              <a:rPr b="0" sz="1050" i="0" u="none">
                <a:solidFill>
                  <a:srgbClr val="B0B0B0"/>
                </a:solidFill>
                <a:latin typeface="Inter"/>
              </a:rPr>
              <a:t>), allowing critical policy breaches to bypass standard keyword filters.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550" y="1518195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46550" y="2051595"/>
            <a:ext cx="3098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Opaque Token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550" y="2346870"/>
            <a:ext cx="3098750" cy="354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Autonomous agent loops call LLM APIs repeatedly without cost boundaries, leading to exponential API spend without node-level latency or token visibility across multi-step agent chains.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1518195"/>
            <a:ext cx="38100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12050" y="2051595"/>
            <a:ext cx="3098899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Unstructured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2050" y="2346870"/>
            <a:ext cx="3098899" cy="354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LLMs generate verbose, non-standardized narrative text lacking audit structure, preventing senior decision-makers from rapidly parsing key audit findings or verifying execution states.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622970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1325" y="1622970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7300" y="1622970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5457825" cy="1228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280070"/>
            <a:ext cx="5457825" cy="1228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699295"/>
            <a:ext cx="5457825" cy="1219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699295"/>
            <a:ext cx="5457825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03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Core Framework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6296025"/>
            <a:ext cx="2276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FRAMEWORK ARCHITECTURE // SLIDE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861095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Manages state transitions between financial analyst nodes and brief synthesis compilers in a deterministic directed acyclic graph (DAG).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1861095"/>
            <a:ext cx="498157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Inspects input directives and node outputs against truncated root-stem arrays (e.g., </a:t>
            </a:r>
            <a:r>
              <a:rPr b="0" sz="1050" i="0" u="none">
                <a:solidFill>
                  <a:srgbClr val="FFE600"/>
                </a:solidFill>
                <a:latin typeface="Inter"/>
              </a:rPr>
              <a:t>'undisclosed liabilit'</a:t>
            </a:r>
            <a:r>
              <a:rPr b="0" sz="1050" i="0" u="none">
                <a:solidFill>
                  <a:srgbClr val="B0B0B0"/>
                </a:solidFill>
                <a:latin typeface="Inter"/>
              </a:rPr>
              <a:t>) in real-time.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28032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Logs prompt/completion tokens, node latency, and cost optimizations into an immutable, thread-safe SQLite audit ledger.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28032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Synthesizes structured briefs (Situation, Complication, Directive) with automated escalation flags for partner approval queues.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1532483"/>
            <a:ext cx="15144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LangGraph Engine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1518195"/>
            <a:ext cx="134302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7025" y="1532483"/>
            <a:ext cx="1685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Compliance Firewall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9387" y="1518195"/>
            <a:ext cx="1071562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9650" y="2951708"/>
            <a:ext cx="1466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Telemetry Engine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4350" y="2937420"/>
            <a:ext cx="143827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7025" y="2951708"/>
            <a:ext cx="17240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Minto Brief Compiler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3650" y="2937420"/>
            <a:ext cx="12573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1556295"/>
            <a:ext cx="1714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556295"/>
            <a:ext cx="1524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2975520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375" y="297552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5438775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80070"/>
            <a:ext cx="5438775" cy="2390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146845"/>
            <a:ext cx="4962525" cy="122857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1832520"/>
            <a:ext cx="4962525" cy="314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242095"/>
            <a:ext cx="4962525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651670"/>
            <a:ext cx="4962525" cy="314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3061245"/>
            <a:ext cx="4962525" cy="371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04 TECHNICAL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Compliance Firewall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7912" y="6296025"/>
            <a:ext cx="168116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DETECTION RULES // SLIDE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1518195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Root-Stem Rule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813470"/>
            <a:ext cx="49625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Matches outputs against non-evadable truncated root stems: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1518195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Deterministic Scoring Engine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1542008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7275" y="2497335"/>
            <a:ext cx="733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"guarantee"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4050" y="2497335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"override"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150" y="2497335"/>
            <a:ext cx="80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"unverified"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2685901"/>
            <a:ext cx="8667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"off-balance"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685901"/>
            <a:ext cx="1133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"material breach"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275" y="2874466"/>
            <a:ext cx="1066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FFFFFF"/>
                </a:solidFill>
                <a:latin typeface="JetBrains Mono"/>
              </a:rPr>
              <a:t>"revenue bypass"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7425" y="2874466"/>
            <a:ext cx="1466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1" sz="825" i="0" u="none">
                <a:solidFill>
                  <a:srgbClr val="FFE600"/>
                </a:solidFill>
                <a:latin typeface="JetBrains Mono"/>
              </a:rPr>
              <a:t>"undisclosed liabilit"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1542008"/>
            <a:ext cx="1143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250" y="3166020"/>
            <a:ext cx="1247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F4444"/>
                </a:solidFill>
                <a:latin typeface="Inter SemiBold"/>
              </a:rPr>
              <a:t>Escalation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4525" y="3166020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EF4444"/>
                </a:solidFill>
                <a:latin typeface="JetBrains Mono"/>
              </a:rPr>
              <a:t>&gt;= 0.75 (Partner Queue)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1110615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575470"/>
            <a:ext cx="5438775" cy="1381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575470"/>
            <a:ext cx="5438775" cy="1381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740" y="1480095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570" y="148009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401" y="1480095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231" y="1480095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0062" y="1480095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05 TECHNICAL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State Graph &amp;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2162" y="6296025"/>
            <a:ext cx="19669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STATE ORCHESTRATION // SLIDE 06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77430" y="175632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5260" y="1756320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3091" y="1756320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0921" y="1756320"/>
            <a:ext cx="1333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7750" y="2813595"/>
            <a:ext cx="46958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Node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3108870"/>
            <a:ext cx="49625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LangGraph </a:t>
            </a:r>
            <a:r>
              <a:rPr b="0" sz="1050" i="0" u="none">
                <a:solidFill>
                  <a:srgbClr val="FFFFFF"/>
                </a:solidFill>
                <a:latin typeface="Inter"/>
              </a:rPr>
              <a:t>StateGraph</a:t>
            </a:r>
            <a:r>
              <a:rPr b="0" sz="1050" i="0" u="none">
                <a:solidFill>
                  <a:srgbClr val="B0B0B0"/>
                </a:solidFill>
                <a:latin typeface="Inter"/>
              </a:rPr>
              <a:t> coordinates node transitions. AuditorAnalystNode logs execution metrics, evaluates financial content, and passes state to MintoCompilerNode before reaching 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2813595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Telemetry Interception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108870"/>
            <a:ext cx="49625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At each graph step, latency, prompt tokens, and completion tokens are intercepted before state mutation, providing granular node-by-node cost and safety visibility.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1899195"/>
            <a:ext cx="2034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Inter SemiBold"/>
              </a:rPr>
              <a:t>Input Directive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2051595"/>
            <a:ext cx="203448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888888"/>
                </a:solidFill>
                <a:latin typeface="Inter"/>
              </a:rPr>
              <a:t>Prompt Ingestion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0780" y="1899195"/>
            <a:ext cx="2034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Inter SemiBold"/>
              </a:rPr>
              <a:t>AuditorAnalystNode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0780" y="2051595"/>
            <a:ext cx="203448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888888"/>
                </a:solidFill>
                <a:latin typeface="Inter"/>
              </a:rPr>
              <a:t>LLM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8610" y="1899195"/>
            <a:ext cx="2034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FE600"/>
                </a:solidFill>
                <a:latin typeface="Inter"/>
              </a:rPr>
              <a:t>Compliance Proxy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8610" y="2051595"/>
            <a:ext cx="203448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FFE600"/>
                </a:solidFill>
                <a:latin typeface="Inter"/>
              </a:rPr>
              <a:t>Firewall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6441" y="1899195"/>
            <a:ext cx="2034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Inter SemiBold"/>
              </a:rPr>
              <a:t>MintoCompilerNode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6441" y="2051595"/>
            <a:ext cx="203448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888888"/>
                </a:solidFill>
                <a:latin typeface="Inter"/>
              </a:rPr>
              <a:t>Brief Assembly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4271" y="1899195"/>
            <a:ext cx="2034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Inter SemiBold"/>
              </a:rPr>
              <a:t>END /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4271" y="2051595"/>
            <a:ext cx="203448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888888"/>
                </a:solidFill>
                <a:latin typeface="Inter"/>
              </a:rPr>
              <a:t>Partner Routing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2837408"/>
            <a:ext cx="1714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83740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5438775" cy="2253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80070"/>
            <a:ext cx="5438775" cy="22532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61095"/>
            <a:ext cx="4943475" cy="92928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904678"/>
            <a:ext cx="4943475" cy="390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06 SYSTEM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High-Risk Policy Escalation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5062" y="6296025"/>
            <a:ext cx="16240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LIVE TRACE LOGS // SLIDE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75" y="1518195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EF4444"/>
                </a:solidFill>
                <a:latin typeface="Inter SemiBold"/>
              </a:rPr>
              <a:t>Minto Brief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532483"/>
            <a:ext cx="15144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Execution Context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400" y="1518195"/>
            <a:ext cx="1019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1542008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8425" y="1813470"/>
            <a:ext cx="496252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FFE600"/>
                </a:solidFill>
                <a:latin typeface="Inter"/>
              </a:rPr>
              <a:t>STATUS:</a:t>
            </a:r>
            <a:r>
              <a:rPr b="0" sz="862" i="0" u="none">
                <a:solidFill>
                  <a:srgbClr val="CCCCCC"/>
                </a:solidFill>
                <a:latin typeface="Inter"/>
              </a:rPr>
              <a:t> </a:t>
            </a:r>
            <a:r>
              <a:rPr b="1" sz="862" i="0" u="none">
                <a:solidFill>
                  <a:srgbClr val="EF4444"/>
                </a:solidFill>
                <a:latin typeface="Inter"/>
              </a:rPr>
              <a:t>ACTION REQUIRED (Escalated to Partner Queue)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053976"/>
            <a:ext cx="496252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FFFFFF"/>
                </a:solidFill>
                <a:latin typeface="Inter"/>
              </a:rPr>
              <a:t>Situation:</a:t>
            </a:r>
            <a:r>
              <a:rPr b="0" sz="862" i="0" u="none">
                <a:solidFill>
                  <a:srgbClr val="CCCCCC"/>
                </a:solidFill>
                <a:latin typeface="Inter"/>
              </a:rPr>
              <a:t> Financial analysis node evaluated off-balance sheet arrangements for Q3 audit.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294483"/>
            <a:ext cx="4962525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FFFFFF"/>
                </a:solidFill>
                <a:latin typeface="Inter"/>
              </a:rPr>
              <a:t>Complication:</a:t>
            </a:r>
            <a:r>
              <a:rPr b="0" sz="862" i="0" u="none">
                <a:solidFill>
                  <a:srgbClr val="CCCCCC"/>
                </a:solidFill>
                <a:latin typeface="Inter"/>
              </a:rPr>
              <a:t> Identified </a:t>
            </a:r>
            <a:r>
              <a:rPr b="0" sz="862" i="0" u="none">
                <a:solidFill>
                  <a:srgbClr val="EF4444"/>
                </a:solidFill>
                <a:latin typeface="Inter"/>
              </a:rPr>
              <a:t>'undisclosed liabilit'</a:t>
            </a:r>
            <a:r>
              <a:rPr b="0" sz="862" i="0" u="none">
                <a:solidFill>
                  <a:srgbClr val="CCCCCC"/>
                </a:solidFill>
                <a:latin typeface="Inter"/>
              </a:rPr>
              <a:t> and unverified revenue overrides exceeding safety threshold (0.85 &gt;= 0.75).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2699295"/>
            <a:ext cx="496252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FFFFFF"/>
                </a:solidFill>
                <a:latin typeface="Inter"/>
              </a:rPr>
              <a:t>Directive:</a:t>
            </a:r>
            <a:r>
              <a:rPr b="0" sz="862" i="0" u="none">
                <a:solidFill>
                  <a:srgbClr val="CCCCCC"/>
                </a:solidFill>
                <a:latin typeface="Inter"/>
              </a:rPr>
              <a:t> Automated pipeline halted. Route trace log to Senior Audit Partner for manual review.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15562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5438775" cy="2078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80070"/>
            <a:ext cx="5438775" cy="2078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61095"/>
            <a:ext cx="4943475" cy="754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729507"/>
            <a:ext cx="4943475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1813470"/>
            <a:ext cx="4962525" cy="1259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07 SYSTEM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Verified Compliant Run &amp; Audit Trail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39325" y="6296025"/>
            <a:ext cx="1809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AUDIT VERIFICATION // SLIDE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1518195"/>
            <a:ext cx="4733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Persistent Ledger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1532483"/>
            <a:ext cx="14382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Compliant Profile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3975" y="1518195"/>
            <a:ext cx="609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1542008"/>
            <a:ext cx="1333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7500" y="2068264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E600"/>
                </a:solidFill>
                <a:latin typeface="JetBrains Mono"/>
              </a:rPr>
              <a:t>"AuditorAnalystNode"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1950" y="2068264"/>
            <a:ext cx="85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"prompt_tokens"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0" y="2068264"/>
            <a:ext cx="1085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"completion_tokens"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150" y="2068264"/>
            <a:ext cx="342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"cost"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218283"/>
            <a:ext cx="571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10B981"/>
                </a:solidFill>
                <a:latin typeface="JetBrains Mono"/>
              </a:rPr>
              <a:t>"$0.00652"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2368301"/>
            <a:ext cx="1085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E600"/>
                </a:solidFill>
                <a:latin typeface="JetBrains Mono"/>
              </a:rPr>
              <a:t>"MintoCompilerNode"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0" y="2368301"/>
            <a:ext cx="85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"prompt_tokens"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2100" y="2368301"/>
            <a:ext cx="10858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"completion_tokens"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0" y="2368301"/>
            <a:ext cx="342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"cost"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2518320"/>
            <a:ext cx="571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10B981"/>
                </a:solidFill>
                <a:latin typeface="JetBrains Mono"/>
              </a:rPr>
              <a:t>"$0.00777"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2668339"/>
            <a:ext cx="628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FFFFFF"/>
                </a:solidFill>
                <a:latin typeface="JetBrains Mono"/>
              </a:rPr>
              <a:t>"db_status"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0450" y="2668339"/>
            <a:ext cx="1600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b="0" sz="787" i="0" u="none">
                <a:solidFill>
                  <a:srgbClr val="10B981"/>
                </a:solidFill>
                <a:latin typeface="JetBrains Mono"/>
              </a:rPr>
              <a:t>"PERSISTED_SQLITE_COMMIT_OK"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15562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5457825" cy="137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280070"/>
            <a:ext cx="5457825" cy="1371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842170"/>
            <a:ext cx="5457825" cy="1171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842170"/>
            <a:ext cx="5457825" cy="1171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08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Enterprise ROI &amp;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8875" y="6296025"/>
            <a:ext cx="1600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BUSINESS VALUE // SLIDE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1518195"/>
            <a:ext cx="4733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Regulatory Risk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1813470"/>
            <a:ext cx="49815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100% deterministic interception of policy breaches, eliminating LLM hallucinations and off-balance sheet overrides before output exposure to client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1518195"/>
            <a:ext cx="47148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Cost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181347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25%+ immediate reduction in API expenditure via simulated prefix caching and real-time cost limit enforcement across high-volume traces.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080295"/>
            <a:ext cx="4733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Operational Velocity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37557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Sub-second automated escalation of flagged audit tasks directly into senior partner queues with zero policy drift or delay.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080295"/>
            <a:ext cx="4733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Complete 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37557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B0B0B0"/>
                </a:solidFill>
                <a:latin typeface="Inter"/>
              </a:rPr>
              <a:t>Immutable, thread-safe SQLite event ledger recording node latency, token usage, and compliance scores for external regulatory compliance.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542008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542008"/>
            <a:ext cx="1714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3104108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10410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12172950" cy="683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6134100"/>
            <a:ext cx="11106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280070"/>
            <a:ext cx="3575000" cy="20437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425" y="1280070"/>
            <a:ext cx="3575000" cy="20437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1280070"/>
            <a:ext cx="3575149" cy="20437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25" y="428625"/>
            <a:ext cx="11106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Inter"/>
              </a:rPr>
              <a:t>09 IMPLEMENTATION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647700"/>
            <a:ext cx="90011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Deployment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" y="571500"/>
            <a:ext cx="76200" cy="76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925" y="6296025"/>
            <a:ext cx="9620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FFFFF"/>
                </a:solidFill>
                <a:latin typeface="Inter ExtraBold"/>
              </a:rPr>
              <a:t>EY </a:t>
            </a:r>
            <a:r>
              <a:rPr b="0" sz="825" i="0" u="none">
                <a:solidFill>
                  <a:srgbClr val="FFE600"/>
                </a:solidFill>
                <a:latin typeface="Inter ExtraBold"/>
              </a:rPr>
              <a:t>AgentSentry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3212" y="6296025"/>
            <a:ext cx="118586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07070"/>
                </a:solidFill>
                <a:latin typeface="Inter"/>
              </a:rPr>
              <a:t>ROADMAP // SLIDE 10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537245"/>
            <a:ext cx="14763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050" y="1880145"/>
            <a:ext cx="3098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Core Engine &amp; Ledger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1537245"/>
            <a:ext cx="1681162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46550" y="1880145"/>
            <a:ext cx="3098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Vector &amp; Multi-Tenant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1537245"/>
            <a:ext cx="1890712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12050" y="1880145"/>
            <a:ext cx="3098899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SemiBold"/>
              </a:rPr>
              <a:t>Infrastructure &amp; SIEM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96375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2194470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Stemmed Keyword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419171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2417266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Minto Brief Compiler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641967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2640062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Thread-Safe SQLite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2864762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" y="2862857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Core Test 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1325" y="2196375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000" y="2194470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Vector Guardrails (Semantic)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1325" y="2419171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000" y="2417266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Multi-Tenant SSO &amp; Role Maps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1325" y="2641967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000" y="2640062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Redis Cache Intercept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1325" y="2864762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000" y="2862857"/>
            <a:ext cx="2927300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Partner Portal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6825" y="2196375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3500" y="2194470"/>
            <a:ext cx="2927449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Kubernetes Sidecar Mesh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6825" y="2419171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3500" y="2417266"/>
            <a:ext cx="2927449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Splunk / SIEM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6825" y="2641967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3500" y="2640062"/>
            <a:ext cx="2927449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Automated Audit Exports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6825" y="2864762"/>
            <a:ext cx="66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0B0B0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3500" y="2862857"/>
            <a:ext cx="2927449" cy="222795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B0B0B0"/>
                </a:solidFill>
                <a:latin typeface="Inter"/>
              </a:rPr>
              <a:t>Global Multi-Region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